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54864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🌲 小棲蘭森林農場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1FAE5"/>
                </a:solidFill>
                <a:latin typeface="微軟正黑體"/>
              </a:rPr>
              <a:t>V2 靜態 MVP 網站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架構規劃說明書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286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1FAE5"/>
                </a:solidFill>
                <a:latin typeface="微軟正黑體"/>
              </a:rPr>
              <a:t>CWW 架構對齊 · 模組化設計 · 100% Mobile-First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9260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Cloudways + WordPress + WooCommerce
無縫遷移路徑規劃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4114800"/>
            <a:ext cx="123444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4114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/>
              </a:rPr>
              <a:t>HTML5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114800"/>
            <a:ext cx="123444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/>
              </a:rPr>
              <a:t>Tailwind 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4114800"/>
            <a:ext cx="123444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4114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/>
              </a:rPr>
              <a:t>FontAwesome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4114800"/>
            <a:ext cx="123444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114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/>
              </a:rPr>
              <a:t>Noto Serif TC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60" y="4114800"/>
            <a:ext cx="123444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4114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/>
              </a:rPr>
              <a:t>Vanilla ES6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943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軟正黑體"/>
              </a:rPr>
              <a:t>2026.06.23  ·  建安農業有限公司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01  專案概覽 &amp; 核心工程指令（Architecture Law）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3035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微軟正黑體"/>
              </a:rPr>
              <a:t>🎯  專案目標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F2937"/>
                </a:solidFill>
                <a:latin typeface="微軟正黑體"/>
              </a:rPr>
              <a:t>▸ 為「小棲蘭森林農場」打造 5 頁靜態 MVP 原型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2937"/>
                </a:solidFill>
                <a:latin typeface="微軟正黑體"/>
              </a:rPr>
              <a:t>▸ 100% Mobile-First RWD，桌機與手機皆完美呈現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2937"/>
                </a:solidFill>
                <a:latin typeface="微軟正黑體"/>
              </a:rPr>
              <a:t>▸ 模組化元件設計，非技術農場主人可輕鬆維護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2937"/>
                </a:solidFill>
                <a:latin typeface="微軟正黑體"/>
              </a:rPr>
              <a:t>▸ 對齊 CWW（Cloudways + WordPress + WooCommerce）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2937"/>
                </a:solidFill>
                <a:latin typeface="微軟正黑體"/>
              </a:rPr>
              <a:t>▸ 所有連結使用扁平路徑，直接對應 WP URL Slug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2937"/>
                </a:solidFill>
                <a:latin typeface="微軟正黑體"/>
              </a:rPr>
              <a:t>▸ 純 Vanilla ES6 JS，無框架依賴，解耦設計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943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微軟正黑體"/>
              </a:rPr>
              <a:t>⚖️  三大架構法則（Architecture Law）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74519"/>
            <a:ext cx="5486400" cy="3200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4E3B"/>
                </a:solidFill>
                <a:latin typeface="微軟正黑體"/>
              </a:rPr>
              <a:t>① CWW 對齊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21991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每個頁面 HTML 結構高度模組化（元件化），媒體與商品容器完全解耦，農場主人可在 WP Gutenberg 後台直接替換文字、圖片、YouTube 連結，如同使用 Facebook 般直覺。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200400"/>
            <a:ext cx="5486400" cy="3200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200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4E3B"/>
                </a:solidFill>
                <a:latin typeface="微軟正黑體"/>
              </a:rPr>
              <a:t>② 乾淨動態路由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547872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所有導覽錨點連結使用扁平、一致的路徑（events.html / shop.html），可直接對應 WordPress URL Slug，零修改成本遷移。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526280"/>
            <a:ext cx="5486400" cy="3200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526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4E3B"/>
                </a:solidFill>
                <a:latin typeface="微軟正黑體"/>
              </a:rPr>
              <a:t>③ Mobile-First RWD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873752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每個元素皆以手機優先設計，使用 Tailwind CSS 響應式前綴（md: / lg:）確保桌機與手機皆有頂級視覺體驗。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02  5 頁面檔案架構（File Architecture）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19456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15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index.html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89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軟正黑體"/>
              </a:rPr>
              <a:t>全螢幕歡迎頁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21945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全滿版背景圖（w-full h-screen overflow-hidden）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整個 &lt;body&gt; 包在 &lt;a&gt; 內，點擊任意處跳轉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右下角品牌簽名：毛筆字「小棲蘭」+ 紅色印章「建安」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雙重安全邊距防止窄螢幕裁切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219456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115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events.html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389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軟正黑體"/>
              </a:rPr>
              <a:t>最新活動頁（主 Hub）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600200"/>
            <a:ext cx="21945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69164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全域黃金導覽列（桌機 + 手機 RWD）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Hero Carousel 輪播（純 Tailwind + Vanilla ES6）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活動卡片 Grid（md:grid-cols-2）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報名按鈕連結 Google Forms（target=_blank）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注意事項 &amp; 交通資訊區塊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097280"/>
            <a:ext cx="2194560" cy="50292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115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shop.html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389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軟正黑體"/>
              </a:rPr>
              <a:t>森林農產品頁（B2C 電商）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600200"/>
            <a:ext cx="21945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69164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100% B2C 專屬，移除所有 B2B 詢價表單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3 件核心商品卡片（高信任徽章：貨到付款 / 免運）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加入購物車 Badge 計數器（Vanilla ES6 解耦）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支付閘道預留 Hook（Visa / Mastercard disabled）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097280"/>
            <a:ext cx="2194560" cy="502920"/>
          </a:xfrm>
          <a:prstGeom prst="rect">
            <a:avLst/>
          </a:prstGeom>
          <a:solidFill>
            <a:srgbClr val="0E4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115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blog.html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389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軟正黑體"/>
              </a:rPr>
              <a:t>小棲蘭日誌（SEO 引擎）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600200"/>
            <a:ext cx="21945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69164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精選置頂文章 + 3 欄 Timeline Grid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防爆版 YouTube 嵌入（aspect-video 嚴格寬高比）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料理 / 養生文章末尾情境式 CTA → shop.html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電子報訂閱留存機制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1097280"/>
            <a:ext cx="2194560" cy="502920"/>
          </a:xfrm>
          <a:prstGeom prst="rect">
            <a:avLst/>
          </a:prstGeom>
          <a:solidFill>
            <a:srgbClr val="4C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115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cart.html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389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軟正黑體"/>
              </a:rPr>
              <a:t>購物車結帳頁（轉換漏斗）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1600200"/>
            <a:ext cx="21945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4C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169164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3 欄 RWD 佈局（商品明細 col-span-2 + 訂單摘要）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FontAwesome 圓形 +/- 數量控制器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貨到付款預設強制預選（disabled 線上刷卡）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信任徽章：有機認證 / 24h 出貨 / 退款保障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微軟正黑體"/>
              </a:rPr>
              <a:t>• 結帳成功 Modal 彈窗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03  設計系統 &amp; 色彩規範（Design System）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微軟正黑體"/>
              </a:rPr>
              <a:t>🎨  色彩規範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097280" cy="548640"/>
          </a:xfrm>
          <a:prstGeom prst="rect">
            <a:avLst/>
          </a:prstGeom>
          <a:solidFill>
            <a:srgbClr val="064E3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深森林綠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/>
              </a:rPr>
              <a:t>#064E3B  ·  主色 · 導覽列 · 標題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1097280" cy="548640"/>
          </a:xfrm>
          <a:prstGeom prst="rect">
            <a:avLst/>
          </a:prstGeom>
          <a:solidFill>
            <a:srgbClr val="05966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中森林綠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060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/>
              </a:rPr>
              <a:t>#059669  ·  按鈕 · CTA · 強調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097280" cy="548640"/>
          </a:xfrm>
          <a:prstGeom prst="rect">
            <a:avLst/>
          </a:prstGeom>
          <a:solidFill>
            <a:srgbClr val="FAFA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大地米白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/>
              </a:rPr>
              <a:t>#FAFAF9  ·  頁面背景 · 卡片底色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1097280" cy="548640"/>
          </a:xfrm>
          <a:prstGeom prst="rect">
            <a:avLst/>
          </a:prstGeom>
          <a:solidFill>
            <a:srgbClr val="B91C1C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警示紅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60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/>
              </a:rPr>
              <a:t>#B91C1C  ·  價格 · 促銷 · 印章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109728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炭灰色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9377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/>
              </a:rPr>
              <a:t>#1F2937  ·  正文 · 說明文字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40680"/>
            <a:ext cx="1097280" cy="548640"/>
          </a:xfrm>
          <a:prstGeom prst="rect">
            <a:avLst/>
          </a:prstGeom>
          <a:solidFill>
            <a:srgbClr val="D9770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琥珀橙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715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/>
              </a:rPr>
              <a:t>#D97706  ·  標籤 · 免運橫幅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微軟正黑體"/>
              </a:rPr>
              <a:t>🔤  字型規範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554480"/>
            <a:ext cx="5943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微軟正黑體"/>
              </a:rPr>
              <a:t>主要字型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8745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微軟正黑體"/>
              </a:rPr>
              <a:t>Noto Serif 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212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</a:rPr>
              <a:t>來源：Google Fonts CDN  ·  用途：標題 / 品牌文字 / 強調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697480"/>
            <a:ext cx="5943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微軟正黑體"/>
              </a:rPr>
              <a:t>系統字型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017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微軟正黑體"/>
              </a:rPr>
              <a:t>微軟正黑體 / PingFang TC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355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</a:rPr>
              <a:t>來源：系統預設  ·  用途：正文 / 說明 / 按鈕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840480"/>
            <a:ext cx="5943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微軟正黑體"/>
              </a:rPr>
              <a:t>圖示字型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160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微軟正黑體"/>
              </a:rPr>
              <a:t>FontAwesome 6 Free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498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</a:rPr>
              <a:t>來源：cdnjs CDN  ·  用途：所有 UI 圖示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754880"/>
            <a:ext cx="5943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846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4E3B"/>
                </a:solidFill>
                <a:latin typeface="微軟正黑體"/>
              </a:rPr>
              <a:t>📐  視覺規範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1663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  <a:latin typeface="微軟正黑體"/>
              </a:rPr>
              <a:t>▸ 圓角：rounded-lg（8px）· 卡片 / 按鈕統一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  <a:latin typeface="微軟正黑體"/>
              </a:rPr>
              <a:t>▸ 陰影：shadow-lg · hover:shadow-xl（懸停加深）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  <a:latin typeface="微軟正黑體"/>
              </a:rPr>
              <a:t>▸ 間距：優雅留白，py-12 / gap-8 為主要節奏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  <a:latin typeface="微軟正黑體"/>
              </a:rPr>
              <a:t>▸ 過渡：transition-colors duration-200（所有互動）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04  RWD 導覽列架構（Golden Navigation Bar）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4E3B"/>
                </a:solidFill>
                <a:latin typeface="微軟正黑體"/>
              </a:rPr>
              <a:t>🖥️  桌面版（md 以上）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30000" cy="6400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🌲 小棲蘭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軟正黑體"/>
              </a:rPr>
              <a:t>最新活動*  |  森林農產  |  日誌  |  🛒(badge)  |  FB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</a:rPr>
              <a:t>* Active 狀態：font-bold + border-b-2 border-emerald-900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4E3B"/>
                </a:solidFill>
                <a:latin typeface="微軟正黑體"/>
              </a:rPr>
              <a:t>📱  手機版（md 以下）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11430000" cy="6400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🌲 小棲蘭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063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軟正黑體"/>
              </a:rPr>
              <a:t>🛒(badge)  |  FB  |  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11430000" cy="9144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4E3B"/>
                </a:solidFill>
                <a:latin typeface="微軟正黑體"/>
              </a:rPr>
              <a:t>📅 最新活動  |  🌿 森林農產  |  📖 日誌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177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</a:rPr>
              <a:t>↑ 漢堡選單展開後的下拉區域（hidden → 點擊 ☰ 切換）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4E3B"/>
                </a:solidFill>
                <a:latin typeface="微軟正黑體"/>
              </a:rPr>
              <a:t>🔧  關鍵 Tailwind 類別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49240"/>
            <a:ext cx="1645920" cy="3657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/>
              </a:rPr>
              <a:t>&lt;header&gt;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53492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5349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微軟正黑體"/>
              </a:rPr>
              <a:t>sticky top-0 z-50 bg-stone-50 shadow-md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349240"/>
            <a:ext cx="1645920" cy="3657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/>
              </a:rPr>
              <a:t>桌面連結群組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53492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5349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微軟正黑體"/>
              </a:rPr>
              <a:t>hidden md:flex items-center gap-6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06440"/>
            <a:ext cx="1645920" cy="3657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806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/>
              </a:rPr>
              <a:t>手機圖示群組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8064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5806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微軟正黑體"/>
              </a:rPr>
              <a:t>flex md:hidden items-center gap-4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5806440"/>
            <a:ext cx="1645920" cy="3657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5806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/>
              </a:rPr>
              <a:t>Active 連結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58064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5806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微軟正黑體"/>
              </a:rPr>
              <a:t>text-emerald-900 font-bold border-b-2 border-emerald-900 pb-0.5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263640"/>
            <a:ext cx="1645920" cy="3657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/>
              </a:rPr>
              <a:t>購物車 Badge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62636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0" y="6263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微軟正黑體"/>
              </a:rPr>
              <a:t>absolute -top-2 -right-2 bg-red-600 text-white text-xs rounded-full w-5 h-5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6263640"/>
            <a:ext cx="1645920" cy="3657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/>
              </a:rPr>
              <a:t>下拉選單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62636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6263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微軟正黑體"/>
              </a:rPr>
              <a:t>hidden md:hidden bg-stone-50 border-t border-stone-200 px-4 py-3 flex flex-col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05  Carousel &amp; 購物車 Badge — Vanilla ES6 JS 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4E3B"/>
                </a:solidFill>
                <a:latin typeface="微軟正黑體"/>
              </a:rPr>
              <a:t>🎠  Carousel 輪播控制器（events.html）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59669"/>
                </a:solidFill>
                <a:latin typeface="Consolas"/>
              </a:rPr>
              <a:t>// HTML 結構：CSS transition-opacity 驅動</a:t>
            </a:r>
          </a:p>
          <a:p>
            <a:r>
              <a:rPr sz="950" b="1">
                <a:solidFill>
                  <a:srgbClr val="064E3B"/>
                </a:solidFill>
                <a:latin typeface="Consolas"/>
              </a:rPr>
              <a:t>.carousel-slide { transition: opacity 0.7s ease-in-out; }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059669"/>
                </a:solidFill>
                <a:latin typeface="Consolas"/>
              </a:rPr>
              <a:t>// ES6 核心邏輯</a:t>
            </a:r>
          </a:p>
          <a:p>
            <a:r>
              <a:rPr sz="950" b="1">
                <a:solidFill>
                  <a:srgbClr val="064E3B"/>
                </a:solidFill>
                <a:latin typeface="Consolas"/>
              </a:rPr>
              <a:t>const slides = document.querySelectorAll('.carousel-slide');</a:t>
            </a:r>
          </a:p>
          <a:p>
            <a:r>
              <a:rPr sz="950" b="1">
                <a:solidFill>
                  <a:srgbClr val="064E3B"/>
                </a:solidFill>
                <a:latin typeface="Consolas"/>
              </a:rPr>
              <a:t>const dots   = document.querySelectorAll('.carousel-dot');</a:t>
            </a:r>
          </a:p>
          <a:p>
            <a:r>
              <a:rPr sz="950" b="1">
                <a:solidFill>
                  <a:srgbClr val="064E3B"/>
                </a:solidFill>
                <a:latin typeface="Consolas"/>
              </a:rPr>
              <a:t>let current = 0;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064E3B"/>
                </a:solidFill>
                <a:latin typeface="Consolas"/>
              </a:rPr>
              <a:t>function goToSlide(index) {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slides[current].classList.replace('opacity-100','opacity-0');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current = (index + slides.length) % slides.length;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slides[current].classList.replace('opacity-0','opacity-100');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}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059669"/>
                </a:solidFill>
                <a:latin typeface="Consolas"/>
              </a:rPr>
              <a:t>// 自動輪播（4 秒）</a:t>
            </a:r>
          </a:p>
          <a:p>
            <a:r>
              <a:rPr sz="950" b="1">
                <a:solidFill>
                  <a:srgbClr val="064E3B"/>
                </a:solidFill>
                <a:latin typeface="Consolas"/>
              </a:rPr>
              <a:t>const timer = setInterval(() =&gt; goToSlide(current+1), 4000);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059669"/>
                </a:solidFill>
                <a:latin typeface="Consolas"/>
              </a:rPr>
              <a:t>// 解耦設計：移除此 &lt;script&gt; 即可換 WP Slider 插件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669280" cy="5486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4E3B"/>
                </a:solidFill>
                <a:latin typeface="微軟正黑體"/>
              </a:rPr>
              <a:t>🛒  購物車 Badge 計數器（shop.html）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59669"/>
                </a:solidFill>
                <a:latin typeface="Consolas"/>
              </a:rPr>
              <a:t>// 全域計數器（WooCommerce 可直接替換）</a:t>
            </a:r>
          </a:p>
          <a:p>
            <a:r>
              <a:rPr sz="950" b="1">
                <a:solidFill>
                  <a:srgbClr val="064E3B"/>
                </a:solidFill>
                <a:latin typeface="Consolas"/>
              </a:rPr>
              <a:t>let cartCount = 0;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064E3B"/>
                </a:solidFill>
                <a:latin typeface="Consolas"/>
              </a:rPr>
              <a:t>function addToCart(productName, price) {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cartCount++;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// 更新 Badge（桌面 + 手機）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const badge = document.getElementById('cart-badge');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badge.textContent = cartCount;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badge.classList.remove('hidden');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// 彈跳動畫回饋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badge.classList.add('badge-bounce');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setTimeout(() =&gt; badge.classList.remove('badge-bounce'), 400);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// 跨頁持久化（sessionStorage）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sessionStorage.setItem('cartCount', cartCount);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// Toast 提示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  showToast('已加入購物車！');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>}</a:t>
            </a:r>
          </a:p>
          <a:p>
            <a:r>
              <a:rPr sz="950">
                <a:solidFill>
                  <a:srgbClr val="1F2937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059669"/>
                </a:solidFill>
                <a:latin typeface="Consolas"/>
              </a:rPr>
              <a:t>// WooCommerce 遷移：替換為 wc_add_to_cart_params AJAX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06  CWW 遷移路徑對照表（靜態 MVP → WordPress / WooCommerce）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926080" cy="4114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15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靜態 MVP 元素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097280"/>
            <a:ext cx="3474720" cy="4114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155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WP / WooCommerce 對應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097280"/>
            <a:ext cx="1371600" cy="4114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115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遷移難度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097280"/>
            <a:ext cx="4114800" cy="4114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115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說明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0876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50876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微軟正黑體"/>
              </a:rPr>
              <a:t>href="events.html"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508760"/>
            <a:ext cx="3474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08760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WP 固定連結 /events/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508760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5087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微軟正黑體"/>
              </a:rPr>
              <a:t>⭐ 極低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50876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0876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直接替換 href 即可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965960"/>
            <a:ext cx="292608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96596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微軟正黑體"/>
              </a:rPr>
              <a:t>href="shop.html"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1965960"/>
            <a:ext cx="347472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1965960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WooCommerce Shop /shop/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1965960"/>
            <a:ext cx="13716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19659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微軟正黑體"/>
              </a:rPr>
              <a:t>⭐ 極低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965960"/>
            <a:ext cx="41148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196596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WC 自動生成商店頁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42316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42316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微軟正黑體"/>
              </a:rPr>
              <a:t>href="blog.html"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423160"/>
            <a:ext cx="3474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2423160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WP Blog Archive /blog/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423160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24231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微軟正黑體"/>
              </a:rPr>
              <a:t>⭐ 極低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242316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242316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WP 預設文章列表頁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880360"/>
            <a:ext cx="292608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88036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微軟正黑體"/>
              </a:rPr>
              <a:t>href="cart.html"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2880360"/>
            <a:ext cx="347472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2880360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WooCommerce Cart /cart/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2880360"/>
            <a:ext cx="13716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28803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微軟正黑體"/>
              </a:rPr>
              <a:t>⭐ 極低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2880360"/>
            <a:ext cx="41148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288036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WC 自動生成購物車頁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33756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33756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微軟正黑體"/>
              </a:rPr>
              <a:t>Carousel JS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3337560"/>
            <a:ext cx="3474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46120" y="3337560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WP Slider 插件（Swiper/Slick）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3337560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3375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97706"/>
                </a:solidFill>
                <a:latin typeface="微軟正黑體"/>
              </a:rPr>
              <a:t>⭐⭐ 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333756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333756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移除 &lt;script&gt;，安裝插件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3794760"/>
            <a:ext cx="292608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379476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微軟正黑體"/>
              </a:rPr>
              <a:t>addToCart() 函式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3794760"/>
            <a:ext cx="347472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46120" y="3794760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WC AJAX add-to-cart hook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3794760"/>
            <a:ext cx="13716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0840" y="37947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97706"/>
                </a:solidFill>
                <a:latin typeface="微軟正黑體"/>
              </a:rPr>
              <a:t>⭐⭐ 低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3794760"/>
            <a:ext cx="41148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92440" y="379476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替換為 wc_add_to_cart_params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25196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5196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微軟正黑體"/>
              </a:rPr>
              <a:t>Google Forms 連結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4251960"/>
            <a:ext cx="3474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46120" y="4251960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Gravity Forms / WPForms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75120" y="4251960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20840" y="42519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97706"/>
                </a:solidFill>
                <a:latin typeface="微軟正黑體"/>
              </a:rPr>
              <a:t>⭐⭐ 低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46720" y="425196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2440" y="425196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安裝表單插件，替換 href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709160"/>
            <a:ext cx="292608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70916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微軟正黑體"/>
              </a:rPr>
              <a:t>YouTube iframe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4709160"/>
            <a:ext cx="347472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46120" y="4709160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Gutenberg 影片區塊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75120" y="4709160"/>
            <a:ext cx="13716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20840" y="47091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微軟正黑體"/>
              </a:rPr>
              <a:t>⭐ 極低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6720" y="4709160"/>
            <a:ext cx="41148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92440" y="470916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直接貼 YouTube URL 即可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16636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516636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微軟正黑體"/>
              </a:rPr>
              <a:t>Visa/MC disabled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0" y="5166360"/>
            <a:ext cx="3474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46120" y="5166360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WooCommerce 藍新金流 Gateway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75120" y="5166360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20840" y="51663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91C1C"/>
                </a:solidFill>
                <a:latin typeface="微軟正黑體"/>
              </a:rPr>
              <a:t>⭐⭐⭐ 中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516636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92440" y="516636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安裝金流插件並設定 API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5623560"/>
            <a:ext cx="292608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0040" y="562356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微軟正黑體"/>
              </a:rPr>
              <a:t>sessionStorage 購物車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0" y="5623560"/>
            <a:ext cx="347472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46120" y="5623560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WooCommerce 原生購物車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75120" y="5623560"/>
            <a:ext cx="13716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20840" y="56235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97706"/>
                </a:solidFill>
                <a:latin typeface="微軟正黑體"/>
              </a:rPr>
              <a:t>⭐⭐ 低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46720" y="5623560"/>
            <a:ext cx="41148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92440" y="562356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WC 自動接管購物車狀態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1F2937"/>
                </a:solidFill>
                <a:latin typeface="微軟正黑體"/>
              </a:rPr>
              <a:t>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560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小棲蘭森林農場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108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1FAE5"/>
                </a:solidFill>
                <a:latin typeface="微軟正黑體"/>
              </a:rPr>
              <a:t>V2 靜態 MVP 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6576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7F3D0"/>
                </a:solidFill>
                <a:latin typeface="微軟正黑體"/>
              </a:rPr>
              <a:t>5 頁面 · 100% Mobile-First
CWW 架構對齊 · 解耦設計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軟正黑體"/>
              </a:rPr>
              <a:t>✅  MVP 完成清單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1FAE5"/>
                </a:solidFill>
                <a:latin typeface="微軟正黑體"/>
              </a:rPr>
              <a:t>✓ index.html — 全螢幕歡迎頁（品牌簽名 + 點擊跳轉）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1FAE5"/>
                </a:solidFill>
                <a:latin typeface="微軟正黑體"/>
              </a:rPr>
              <a:t>✓ events.html — 活動頁（導覽列 + Carousel + 活動卡片）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1FAE5"/>
                </a:solidFill>
                <a:latin typeface="微軟正黑體"/>
              </a:rPr>
              <a:t>✓ shop.html — 電商頁（3 商品 + Badge 計數器 + 支付 Hook）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1FAE5"/>
                </a:solidFill>
                <a:latin typeface="微軟正黑體"/>
              </a:rPr>
              <a:t>✓ blog.html — 日誌頁（防爆 YouTube + 情境式 CTA）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1FAE5"/>
                </a:solidFill>
                <a:latin typeface="微軟正黑體"/>
              </a:rPr>
              <a:t>✓ cart.html — 購物車（數量控制 + 信任徽章 + 結帳 Modal）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軟正黑體"/>
              </a:rPr>
              <a:t>🚀  下一步行動建議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3891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97706"/>
                </a:solidFill>
                <a:latin typeface="微軟正黑體"/>
              </a:rPr>
              <a:t>→ 替換所有 placehold.co 佔位圖為農場實際照片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97706"/>
                </a:solidFill>
                <a:latin typeface="微軟正黑體"/>
              </a:rPr>
              <a:t>→ 更新 Google Forms 連結為實際報名表單 URL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97706"/>
                </a:solidFill>
                <a:latin typeface="微軟正黑體"/>
              </a:rPr>
              <a:t>→ 更新 Facebook 連結為農場粉絲專頁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97706"/>
                </a:solidFill>
                <a:latin typeface="微軟正黑體"/>
              </a:rPr>
              <a:t>→ 填入農場實際電話、地址、聯絡資訊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97706"/>
                </a:solidFill>
                <a:latin typeface="微軟正黑體"/>
              </a:rPr>
              <a:t>→ 確認後部署至 Cloudways，開始 WP 遷移規劃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